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9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Amazon CloudWatch Logs Insights</a:t>
            </a:r>
          </a:p>
          <a:p>
            <a:r>
              <a:rPr sz="3400" b="1">
                <a:solidFill>
                  <a:srgbClr val="DCE6F5"/>
                </a:solidFill>
              </a:rPr>
              <a:t>for Incident Investigation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F2993A"/>
                </a:solidFill>
              </a:rPr>
              <a:t>AWS Cloud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241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Y24-SAA-Team88</a:t>
            </a:r>
          </a:p>
          <a:p>
            <a:r>
              <a:rPr sz="1600">
                <a:solidFill>
                  <a:srgbClr val="D2DCEB"/>
                </a:solidFill>
              </a:rPr>
              <a:t>24CC3014-P088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Team Members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6459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D7E1F0"/>
                </a:solidFill>
              </a:rPr>
              <a:t>Y24-SAA-Team88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120640" cy="16916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73152" cy="1691640"/>
          </a:xfrm>
          <a:prstGeom prst="rect">
            <a:avLst/>
          </a:prstGeom>
          <a:solidFill>
            <a:srgbClr val="F29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399032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82741"/>
                </a:solidFill>
              </a:rPr>
              <a:t>Member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20240"/>
            <a:ext cx="47548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NUVVULA VENKAT SHIVARAM
S-5-MA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234440"/>
            <a:ext cx="5120640" cy="16916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234440"/>
            <a:ext cx="73152" cy="1691640"/>
          </a:xfrm>
          <a:prstGeom prst="rect">
            <a:avLst/>
          </a:prstGeom>
          <a:solidFill>
            <a:srgbClr val="37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7" y="1399032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82741"/>
                </a:solidFill>
              </a:rPr>
              <a:t>Member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7" y="1920240"/>
            <a:ext cx="47548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KADA KARTHIK
S-5-MA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5120640" cy="16916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474720"/>
            <a:ext cx="73152" cy="1691640"/>
          </a:xfrm>
          <a:prstGeom prst="rect">
            <a:avLst/>
          </a:prstGeom>
          <a:solidFill>
            <a:srgbClr val="F29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639312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82741"/>
                </a:solidFill>
              </a:rPr>
              <a:t>Member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160520"/>
            <a:ext cx="47548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MOHAMMED RAIHAN
S-5-MA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474720"/>
            <a:ext cx="5120640" cy="16916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474720"/>
            <a:ext cx="73152" cy="1691640"/>
          </a:xfrm>
          <a:prstGeom prst="rect">
            <a:avLst/>
          </a:prstGeom>
          <a:solidFill>
            <a:srgbClr val="37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7" y="3639312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82741"/>
                </a:solidFill>
              </a:rPr>
              <a:t>Member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7" y="4160520"/>
            <a:ext cx="47548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JALLURI KOMAL NAGA SRI SATWIK
S-5-MA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Amazon CloudWatch Logs Insights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A32"/>
                </a:solidFill>
              </a:defRPr>
            </a:pPr>
            <a:r>
              <a:t>Applications and cloud workloads generate a large amount of log data.</a:t>
            </a:r>
          </a:p>
          <a:p>
            <a:pPr>
              <a:spcAft>
                <a:spcPts val="1200"/>
              </a:spcAft>
              <a:defRPr sz="2100">
                <a:solidFill>
                  <a:srgbClr val="232A32"/>
                </a:solidFill>
              </a:defRPr>
            </a:pPr>
            <a:r>
              <a:t>Finding the exact error during an incident can take time when logs are checked manually.</a:t>
            </a:r>
          </a:p>
          <a:p>
            <a:pPr>
              <a:spcAft>
                <a:spcPts val="1200"/>
              </a:spcAft>
              <a:defRPr sz="2100">
                <a:solidFill>
                  <a:srgbClr val="232A32"/>
                </a:solidFill>
              </a:defRPr>
            </a:pPr>
            <a:r>
              <a:t>Important error patterns may be hidden among normal log messages.</a:t>
            </a:r>
          </a:p>
          <a:p>
            <a:pPr>
              <a:spcAft>
                <a:spcPts val="1200"/>
              </a:spcAft>
              <a:defRPr sz="2100">
                <a:solidFill>
                  <a:srgbClr val="232A32"/>
                </a:solidFill>
              </a:defRPr>
            </a:pPr>
            <a:r>
              <a:t>A fast log-analysis process is needed to identify what happened, when it happened, and where it happened.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Amazon CloudWatch Logs Insights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514600" cy="393192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3931920"/>
          </a:xfrm>
          <a:prstGeom prst="rect">
            <a:avLst/>
          </a:prstGeom>
          <a:solidFill>
            <a:srgbClr val="37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82741"/>
                </a:solidFill>
              </a:rPr>
              <a:t>Collect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03120"/>
            <a:ext cx="2148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Use CloudWatch Logs as the central place for application/system log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17320"/>
            <a:ext cx="2514600" cy="393192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417320"/>
            <a:ext cx="73152" cy="3931920"/>
          </a:xfrm>
          <a:prstGeom prst="rect">
            <a:avLst/>
          </a:prstGeom>
          <a:solidFill>
            <a:srgbClr val="F29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7" y="1581912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82741"/>
                </a:solidFill>
              </a:rPr>
              <a:t>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2103120"/>
            <a:ext cx="2148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Use Logs Insights queries to quickly find relevant events.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417320"/>
            <a:ext cx="2514600" cy="393192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417320"/>
            <a:ext cx="73152" cy="3931920"/>
          </a:xfrm>
          <a:prstGeom prst="rect">
            <a:avLst/>
          </a:prstGeom>
          <a:solidFill>
            <a:srgbClr val="43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1581912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82741"/>
                </a:solidFill>
              </a:rPr>
              <a:t>Investigate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103120"/>
            <a:ext cx="2148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Filter errors and examine timestamps and messages.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417320"/>
            <a:ext cx="2514600" cy="393192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417320"/>
            <a:ext cx="73152" cy="3931920"/>
          </a:xfrm>
          <a:prstGeom prst="rect">
            <a:avLst/>
          </a:prstGeom>
          <a:solidFill>
            <a:srgbClr val="37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5168" y="1581912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82741"/>
                </a:solidFill>
              </a:rPr>
              <a:t>Visualize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8" y="2103120"/>
            <a:ext cx="2148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Summarize incident activity using query results and charts.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Amazon CloudWatch Logs Insights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Project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2103120" cy="1097280"/>
          </a:xfrm>
          <a:prstGeom prst="roundRect">
            <a:avLst/>
          </a:prstGeom>
          <a:solidFill>
            <a:srgbClr val="E8F2FC"/>
          </a:solidFill>
          <a:ln>
            <a:solidFill>
              <a:srgbClr val="37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182741"/>
                </a:solidFill>
              </a:rPr>
              <a:t>Application /
Workload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2331720"/>
            <a:ext cx="2286000" cy="1097280"/>
          </a:xfrm>
          <a:prstGeom prst="roundRect">
            <a:avLst/>
          </a:prstGeom>
          <a:solidFill>
            <a:srgbClr val="E8F2FC"/>
          </a:solidFill>
          <a:ln>
            <a:solidFill>
              <a:srgbClr val="F29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56032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182741"/>
                </a:solidFill>
              </a:rPr>
              <a:t>CloudWatch
Log Group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2331720"/>
            <a:ext cx="2286000" cy="1097280"/>
          </a:xfrm>
          <a:prstGeom prst="roundRect">
            <a:avLst/>
          </a:prstGeom>
          <a:solidFill>
            <a:srgbClr val="E8F2FC"/>
          </a:solidFill>
          <a:ln>
            <a:solidFill>
              <a:srgbClr val="43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56032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182741"/>
                </a:solidFill>
              </a:rPr>
              <a:t>Logs
Insights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2331720"/>
            <a:ext cx="1645920" cy="1097280"/>
          </a:xfrm>
          <a:prstGeom prst="roundRect">
            <a:avLst/>
          </a:prstGeom>
          <a:solidFill>
            <a:srgbClr val="E8F2FC"/>
          </a:solidFill>
          <a:ln>
            <a:solidFill>
              <a:srgbClr val="37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0" y="256032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182741"/>
                </a:solidFill>
              </a:rPr>
              <a:t>Incident
Analysis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34640" y="2880360"/>
            <a:ext cx="822960" cy="0"/>
          </a:xfrm>
          <a:prstGeom prst="line">
            <a:avLst/>
          </a:prstGeom>
          <a:ln w="3175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43600" y="2880360"/>
            <a:ext cx="822960" cy="0"/>
          </a:xfrm>
          <a:prstGeom prst="line">
            <a:avLst/>
          </a:prstGeom>
          <a:ln w="3175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52560" y="2880360"/>
            <a:ext cx="731520" cy="0"/>
          </a:xfrm>
          <a:prstGeom prst="line">
            <a:avLst/>
          </a:prstGeom>
          <a:ln w="3175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42519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82741"/>
                </a:solidFill>
              </a:rPr>
              <a:t>Logs → Query → Filter → Analyze → Identify Incident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Amazon CloudWatch Logs Insights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AWS Services Used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502920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1828800"/>
          </a:xfrm>
          <a:prstGeom prst="rect">
            <a:avLst/>
          </a:prstGeom>
          <a:solidFill>
            <a:srgbClr val="37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81912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82741"/>
                </a:solidFill>
              </a:rPr>
              <a:t>Amazon CloudWatch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10312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Central monitoring service used to collect and access operational log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17320"/>
            <a:ext cx="502920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73152" cy="1828800"/>
          </a:xfrm>
          <a:prstGeom prst="rect">
            <a:avLst/>
          </a:prstGeom>
          <a:solidFill>
            <a:srgbClr val="F29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581912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82741"/>
                </a:solidFill>
              </a:rPr>
              <a:t>CloudWatch Logs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10312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Stores log events in log groups and log streams for analysis.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03320"/>
            <a:ext cx="502920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703320"/>
            <a:ext cx="73152" cy="1828800"/>
          </a:xfrm>
          <a:prstGeom prst="rect">
            <a:avLst/>
          </a:prstGeom>
          <a:solidFill>
            <a:srgbClr val="43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867911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82741"/>
                </a:solidFill>
              </a:rPr>
              <a:t>CloudWatch Logs Insights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438912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Interactive log-analysis capability used to search, filter, aggregate, and visualize log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703320"/>
            <a:ext cx="502920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703320"/>
            <a:ext cx="73152" cy="1828800"/>
          </a:xfrm>
          <a:prstGeom prst="rect">
            <a:avLst/>
          </a:prstGeom>
          <a:solidFill>
            <a:srgbClr val="37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867911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82741"/>
                </a:solidFill>
              </a:rPr>
              <a:t>No Complex 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438912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The demonstration can focus on log analysis rather than deploying a large application architecture.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Amazon CloudWatch Logs Insights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Implementation Workflow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1234440"/>
            <a:ext cx="594360" cy="594360"/>
          </a:xfrm>
          <a:prstGeom prst="ellipse">
            <a:avLst/>
          </a:prstGeom>
          <a:solidFill>
            <a:srgbClr val="F29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16152"/>
            <a:ext cx="1965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32A32"/>
                </a:solidFill>
              </a:rPr>
              <a:t>Open AWS Console</a:t>
            </a:r>
          </a:p>
        </p:txBody>
      </p:sp>
      <p:sp>
        <p:nvSpPr>
          <p:cNvPr id="8" name="Oval 7"/>
          <p:cNvSpPr/>
          <p:nvPr/>
        </p:nvSpPr>
        <p:spPr>
          <a:xfrm>
            <a:off x="3474720" y="1234440"/>
            <a:ext cx="594360" cy="594360"/>
          </a:xfrm>
          <a:prstGeom prst="ellipse">
            <a:avLst/>
          </a:prstGeom>
          <a:solidFill>
            <a:srgbClr val="F29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325880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59" y="1216152"/>
            <a:ext cx="1965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32A32"/>
                </a:solidFill>
              </a:rPr>
              <a:t>Open CloudWatch</a:t>
            </a:r>
          </a:p>
        </p:txBody>
      </p:sp>
      <p:sp>
        <p:nvSpPr>
          <p:cNvPr id="11" name="Oval 10"/>
          <p:cNvSpPr/>
          <p:nvPr/>
        </p:nvSpPr>
        <p:spPr>
          <a:xfrm>
            <a:off x="6355080" y="1234440"/>
            <a:ext cx="594360" cy="594360"/>
          </a:xfrm>
          <a:prstGeom prst="ellipse">
            <a:avLst/>
          </a:prstGeom>
          <a:solidFill>
            <a:srgbClr val="F29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25880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216152"/>
            <a:ext cx="1965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32A32"/>
                </a:solidFill>
              </a:rPr>
              <a:t>Select a Log Group</a:t>
            </a:r>
          </a:p>
        </p:txBody>
      </p:sp>
      <p:sp>
        <p:nvSpPr>
          <p:cNvPr id="14" name="Oval 13"/>
          <p:cNvSpPr/>
          <p:nvPr/>
        </p:nvSpPr>
        <p:spPr>
          <a:xfrm>
            <a:off x="9235440" y="1234440"/>
            <a:ext cx="594360" cy="594360"/>
          </a:xfrm>
          <a:prstGeom prst="ellipse">
            <a:avLst/>
          </a:prstGeom>
          <a:solidFill>
            <a:srgbClr val="F29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325880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2680" y="1216152"/>
            <a:ext cx="1965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32A32"/>
                </a:solidFill>
              </a:rPr>
              <a:t>Open Logs Insights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566160"/>
            <a:ext cx="594360" cy="594360"/>
          </a:xfrm>
          <a:prstGeom prst="ellipse">
            <a:avLst/>
          </a:prstGeom>
          <a:solidFill>
            <a:srgbClr val="F29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57600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547872"/>
            <a:ext cx="1965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32A32"/>
                </a:solidFill>
              </a:rPr>
              <a:t>Run investigation queries</a:t>
            </a:r>
          </a:p>
        </p:txBody>
      </p:sp>
      <p:sp>
        <p:nvSpPr>
          <p:cNvPr id="20" name="Oval 19"/>
          <p:cNvSpPr/>
          <p:nvPr/>
        </p:nvSpPr>
        <p:spPr>
          <a:xfrm>
            <a:off x="3474720" y="3566160"/>
            <a:ext cx="594360" cy="594360"/>
          </a:xfrm>
          <a:prstGeom prst="ellipse">
            <a:avLst/>
          </a:prstGeom>
          <a:solidFill>
            <a:srgbClr val="F29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3657600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59" y="3547872"/>
            <a:ext cx="1965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32A32"/>
                </a:solidFill>
              </a:rPr>
              <a:t>Identify error pattern</a:t>
            </a:r>
          </a:p>
        </p:txBody>
      </p:sp>
      <p:sp>
        <p:nvSpPr>
          <p:cNvPr id="23" name="Oval 22"/>
          <p:cNvSpPr/>
          <p:nvPr/>
        </p:nvSpPr>
        <p:spPr>
          <a:xfrm>
            <a:off x="6355080" y="3566160"/>
            <a:ext cx="594360" cy="594360"/>
          </a:xfrm>
          <a:prstGeom prst="ellipse">
            <a:avLst/>
          </a:prstGeom>
          <a:solidFill>
            <a:srgbClr val="F29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657600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547872"/>
            <a:ext cx="1965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32A32"/>
                </a:solidFill>
              </a:rPr>
              <a:t>Visualize results</a:t>
            </a:r>
          </a:p>
        </p:txBody>
      </p:sp>
      <p:sp>
        <p:nvSpPr>
          <p:cNvPr id="26" name="Oval 25"/>
          <p:cNvSpPr/>
          <p:nvPr/>
        </p:nvSpPr>
        <p:spPr>
          <a:xfrm>
            <a:off x="9235440" y="3566160"/>
            <a:ext cx="594360" cy="594360"/>
          </a:xfrm>
          <a:prstGeom prst="ellipse">
            <a:avLst/>
          </a:prstGeom>
          <a:solidFill>
            <a:srgbClr val="F29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3657600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3547872"/>
            <a:ext cx="1965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32A32"/>
                </a:solidFill>
              </a:rPr>
              <a:t>Document the incident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Amazon CloudWatch Logs Insights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Sample Logs Insights Queries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10972800" cy="160020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73152" cy="1600200"/>
          </a:xfrm>
          <a:prstGeom prst="rect">
            <a:avLst/>
          </a:prstGeom>
          <a:solidFill>
            <a:srgbClr val="37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30759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82741"/>
                </a:solidFill>
              </a:rPr>
              <a:t>Find recent errors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2880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fields @timestamp, @message
| filter @message like /ERROR/
| sort @timestamp desc
| limit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71800"/>
            <a:ext cx="10972800" cy="160020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971800"/>
            <a:ext cx="73152" cy="1600200"/>
          </a:xfrm>
          <a:prstGeom prst="rect">
            <a:avLst/>
          </a:prstGeom>
          <a:solidFill>
            <a:srgbClr val="F29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13639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82741"/>
                </a:solidFill>
              </a:rPr>
              <a:t>Count events over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65760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stats count(*) by bin(5m)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00600"/>
            <a:ext cx="1097280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00600"/>
            <a:ext cx="73152" cy="1143000"/>
          </a:xfrm>
          <a:prstGeom prst="rect">
            <a:avLst/>
          </a:prstGeom>
          <a:solidFill>
            <a:srgbClr val="43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496519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82741"/>
                </a:solidFill>
              </a:rPr>
              <a:t>Investigation idea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548640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Start with errors, then narrow the time window and inspect related messages around the incident.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Amazon CloudWatch Logs Insights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Incident Investigation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t>Locate the first important ERROR or exception.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t>Check the timestamp and identify the incident window.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t>Review nearby log events to understand what happened before and after the error.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t>Group or count repeated errors to identify patterns.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t>Use the evidence from the logs to document the incident cause and impact.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Amazon CloudWatch Logs Insights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Expected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474720" cy="42062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73152" cy="4206240"/>
          </a:xfrm>
          <a:prstGeom prst="rect">
            <a:avLst/>
          </a:prstGeom>
          <a:solidFill>
            <a:srgbClr val="F29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44751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82741"/>
                </a:solidFill>
              </a:rPr>
              <a:t>Error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65960"/>
            <a:ext cx="310896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Quickly locate ERROR/exception messages and their timestamps.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474720" cy="42062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80160"/>
            <a:ext cx="73152" cy="4206240"/>
          </a:xfrm>
          <a:prstGeom prst="rect">
            <a:avLst/>
          </a:prstGeom>
          <a:solidFill>
            <a:srgbClr val="37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444751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82741"/>
                </a:solidFill>
              </a:rPr>
              <a:t>Pattern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965960"/>
            <a:ext cx="310896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Identify repeated errors and periods with unusual activity.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80160"/>
            <a:ext cx="3474720" cy="42062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280160"/>
            <a:ext cx="73152" cy="4206240"/>
          </a:xfrm>
          <a:prstGeom prst="rect">
            <a:avLst/>
          </a:prstGeom>
          <a:solidFill>
            <a:srgbClr val="43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444751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82741"/>
                </a:solidFill>
              </a:rPr>
              <a:t>Incident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65960"/>
            <a:ext cx="310896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Use query results and visualizations as evidence for the investigation.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Amazon CloudWatch Logs Insights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A32"/>
                </a:solidFill>
              </a:defRPr>
            </a:pPr>
            <a:r>
              <a:t>Reduces manual log searching.</a:t>
            </a:r>
          </a:p>
          <a:p>
            <a:pPr>
              <a:spcAft>
                <a:spcPts val="1200"/>
              </a:spcAft>
              <a:defRPr sz="2100">
                <a:solidFill>
                  <a:srgbClr val="232A32"/>
                </a:solidFill>
              </a:defRPr>
            </a:pPr>
            <a:r>
              <a:t>Makes incident investigation faster and more structured.</a:t>
            </a:r>
          </a:p>
          <a:p>
            <a:pPr>
              <a:spcAft>
                <a:spcPts val="1200"/>
              </a:spcAft>
              <a:defRPr sz="2100">
                <a:solidFill>
                  <a:srgbClr val="232A32"/>
                </a:solidFill>
              </a:defRPr>
            </a:pPr>
            <a:r>
              <a:t>Provides searchable and filterable log information.</a:t>
            </a:r>
          </a:p>
          <a:p>
            <a:pPr>
              <a:spcAft>
                <a:spcPts val="1200"/>
              </a:spcAft>
              <a:defRPr sz="2100">
                <a:solidFill>
                  <a:srgbClr val="232A32"/>
                </a:solidFill>
              </a:defRPr>
            </a:pPr>
            <a:r>
              <a:t>Helps identify error trends and recurring failures.</a:t>
            </a:r>
          </a:p>
          <a:p>
            <a:pPr>
              <a:spcAft>
                <a:spcPts val="1200"/>
              </a:spcAft>
              <a:defRPr sz="2100">
                <a:solidFill>
                  <a:srgbClr val="232A32"/>
                </a:solidFill>
              </a:defRPr>
            </a:pPr>
            <a:r>
              <a:t>Produces clear evidence that can be included in an incident report.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Amazon CloudWatch Logs Insights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Live Demo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1. Open Amazon CloudWatch.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2. Select the project Log Group.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3. Open Logs Insights.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4. Run the ERROR query.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5. Show the matching log events.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6. Run the time-based count query.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7. Show the graph/results.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8. Explain the incident findings.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8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Amazon CloudWatch Logs Insights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31720"/>
            <a:ext cx="996696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>
                <a:solidFill>
                  <a:srgbClr val="E1EBF7"/>
                </a:solidFill>
              </a:rPr>
              <a:t>Amazon CloudWatch Logs Insights provides a practical way to search, filter, analyze, and visualize log data during incident investigation.
The project demonstrates how cloud logs can be converted into useful evidence for troubleshooting.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16636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2993A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